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4672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EXECUTIVE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GA Report Clone - High-level performance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2815887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005EA2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EXPANDED (DEFAULT)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866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1551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Page path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54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2063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3" name="Oval 22"/>
          <p:cNvSpPr/>
          <p:nvPr/>
        </p:nvSpPr>
        <p:spPr>
          <a:xfrm>
            <a:off x="11444287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58637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87437" y="1914525"/>
            <a:ext cx="3814762" cy="3929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87437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973175" y="2057400"/>
            <a:ext cx="3543300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1B1B"/>
                </a:solidFill>
              </a:defRPr>
            </a:pPr>
            <a:r>
              <a:t>Recommended 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001750" y="2457450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83B01"/>
                </a:solidFill>
              </a:defRPr>
            </a:pPr>
            <a:r>
              <a:t>🚨 HIGH: Session Drop Alert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Sessions down 15% vs prior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01750" y="3471862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000"/>
                </a:solidFill>
              </a:defRPr>
            </a:pPr>
            <a:r>
              <a:t>⚠️ MEDIUM: Mobile Share Elevated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Mobile at 68%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001750" y="4486275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6D6"/>
                </a:solidFill>
              </a:defRPr>
            </a:pPr>
            <a:r>
              <a:t>📊 INFO: Geographic Insight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Top city: Washington DC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73175" y="5486400"/>
            <a:ext cx="3443287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Prompts suggest areas to review; not causal conclusions.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7448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7448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SESSIONS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124.5K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12% MoM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PAGE VIEWS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450.2K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8% MoM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TOP DEVICE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Mobile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68% share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AVG PAGES/SESSION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3.42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▼ 1% MoM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Geographic &amp; Device Distribution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" y="2514600"/>
            <a:ext cx="6343650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" y="2651760"/>
            <a:ext cx="6087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Sessions by City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" y="2880360"/>
            <a:ext cx="6087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Geographic distribution of session activity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" y="3063240"/>
            <a:ext cx="5996178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Map: Bubble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Select date range to view traffic patterns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58050" y="2514600"/>
            <a:ext cx="6357937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86066" y="2651760"/>
            <a:ext cx="6101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Device Breakdown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6066" y="2880360"/>
            <a:ext cx="610190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Mobile, Desktop, Tablet session distribution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31786" y="3063240"/>
            <a:ext cx="6010465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Donut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Session distribution by device 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Content Performance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100" y="6515100"/>
            <a:ext cx="634365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" y="6652260"/>
            <a:ext cx="6087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Top Livecast Videos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3836" y="7063740"/>
            <a:ext cx="5996178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Clustered Bar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No events active in selected period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58050" y="6515100"/>
            <a:ext cx="6357937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86066" y="6652260"/>
            <a:ext cx="6101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Top Pages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31786" y="7063740"/>
            <a:ext cx="6010465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Table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Engagement metrics populate with historical 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X=14.89" | Panel: 4.171875" wide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4672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EXECUTIVE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GA Report Clone - High-level performance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6802100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565C65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COLLAPSED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729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27764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Page path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017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38276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3" name="Oval 22"/>
          <p:cNvSpPr/>
          <p:nvPr/>
        </p:nvSpPr>
        <p:spPr>
          <a:xfrm>
            <a:off x="15430500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44850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446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446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773650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846802" y="2051685"/>
            <a:ext cx="109728" cy="109728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SESSIONS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124.5K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12% MoM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PAGE VIEWS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450.2K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8% MoM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TOP DEVICE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Mobile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68% share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AVG PAGES/SESSION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3.42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▼ 1% MoM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Geographic &amp; Device Distribution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" y="2514600"/>
            <a:ext cx="8343900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" y="26517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Sessions by 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" y="28803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Geographic distribution of session activity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3836" y="3063240"/>
            <a:ext cx="7996427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Map: Bubble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Select date range to view traffic patterns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58300" y="2514600"/>
            <a:ext cx="8343900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6316" y="26517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Device Breakdown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6316" y="28803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Mobile, Desktop, Tablet session distribution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32036" y="3063240"/>
            <a:ext cx="7996427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Donut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Session distribution by device 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Content Performance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01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Top Livecast Videos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38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Clustered Bar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No events active in selected period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583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863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Top Pages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320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Table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Engagement metrics populate with historical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X=19.25" | Rail: 0.625" 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63624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563624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WEBSITE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Daily pageviews and page-level metrics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2815887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005EA2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EXPANDED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78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2751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Page path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866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1551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Livecast Title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54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2063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5" name="Oval 24"/>
          <p:cNvSpPr/>
          <p:nvPr/>
        </p:nvSpPr>
        <p:spPr>
          <a:xfrm>
            <a:off x="11444287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58637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87437" y="1914525"/>
            <a:ext cx="3814762" cy="3929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87437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73175" y="2057400"/>
            <a:ext cx="3543300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1B1B"/>
                </a:solidFill>
              </a:defRPr>
            </a:pPr>
            <a:r>
              <a:t>Recommended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001750" y="2457450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83B01"/>
                </a:solidFill>
              </a:defRPr>
            </a:pPr>
            <a:r>
              <a:t>🚨 HIGH: Engagement Below Target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Avg engagement 58.78%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001750" y="3471862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000"/>
                </a:solidFill>
              </a:defRPr>
            </a:pPr>
            <a:r>
              <a:t>⚠️ MEDIUM: Page Not Found Detected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404 errors on live pages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001750" y="4486275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6D6"/>
                </a:solidFill>
              </a:defRPr>
            </a:pPr>
            <a:r>
              <a:t>📊 INFO: Top Performer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HHS Live Streaming: 98 views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73175" y="5486400"/>
            <a:ext cx="3443287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Prompts suggest areas to review; not causal conclusions.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7448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448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TOTAL PAGES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156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Active pages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AVG ENGAGEMENT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2:34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Per session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BOUNCE RATE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42%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▼ 3% MoM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TOP SOURCE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Organic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38% share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Page Performance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" y="2514600"/>
            <a:ext cx="12815887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" y="2651760"/>
            <a:ext cx="12559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Page Performance Matrix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" y="2880360"/>
            <a:ext cx="125598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Detailed metrics by page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" y="3063240"/>
            <a:ext cx="12468415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Matrix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Top content ranked by traffic and engagement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Traffic &amp; Content Insights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" y="6515100"/>
            <a:ext cx="634365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" y="6652260"/>
            <a:ext cx="6087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Traffic Source Breakdown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3836" y="7063740"/>
            <a:ext cx="5996178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Treemap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Hierarchical traffic analysis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58050" y="6515100"/>
            <a:ext cx="6357937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86066" y="6652260"/>
            <a:ext cx="6101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Most Viewed Pages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31786" y="7063740"/>
            <a:ext cx="6010465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Clustered Bar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Top 10 pages by views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X=14.89" | Panel: 4.171875" wide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63624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563624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WEBSITE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Daily pageviews and page-level metrics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6802100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565C65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COLLAPSED (DEFAULT)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441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8964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Page path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729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27764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Livecast Title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6017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38276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5" name="Oval 24"/>
          <p:cNvSpPr/>
          <p:nvPr/>
        </p:nvSpPr>
        <p:spPr>
          <a:xfrm>
            <a:off x="15430500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44850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446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446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773650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846802" y="2051685"/>
            <a:ext cx="109728" cy="109728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TOTAL PAGES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156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Active pages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AVG ENGAGEMENT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2:34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Per session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BOUNCE RATE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42%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▼ 3% MoM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TOP SOURCE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Organic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38% share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Page Performance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" y="2514600"/>
            <a:ext cx="16802100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" y="2651760"/>
            <a:ext cx="165460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Page Performance Matrix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" y="2880360"/>
            <a:ext cx="165460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Detailed metrics by page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" y="3063240"/>
            <a:ext cx="16454628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Matrix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Top content ranked by traffic and engagement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Traffic &amp; Content Insights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Traffic Source Breakdown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38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Treemap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Hierarchical traffic 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583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863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Most Viewed Pages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320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Clustered Bar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Top 10 pages by views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X=19.25" | Rail: 0.625" wide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81527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7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PLAY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Video engagement and playback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2815887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005EA2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EXPANDED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78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2751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livecast action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866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1551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livecast title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54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2063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5" name="Oval 24"/>
          <p:cNvSpPr/>
          <p:nvPr/>
        </p:nvSpPr>
        <p:spPr>
          <a:xfrm>
            <a:off x="11444287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58637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87437" y="1914525"/>
            <a:ext cx="3814762" cy="3929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87437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73175" y="2057400"/>
            <a:ext cx="3543300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1B1B"/>
                </a:solidFill>
              </a:defRPr>
            </a:pPr>
            <a:r>
              <a:t>Recommended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001750" y="2457450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83B01"/>
                </a:solidFill>
              </a:defRPr>
            </a:pPr>
            <a:r>
              <a:t>🚨 HIGH: Low Play Count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Only 52 total plays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001750" y="3471862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000"/>
                </a:solidFill>
              </a:defRPr>
            </a:pPr>
            <a:r>
              <a:t>⚠️ MEDIUM: Missing Titles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Some videos show 'missing title'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001750" y="4486275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6D6"/>
                </a:solidFill>
              </a:defRPr>
            </a:pPr>
            <a:r>
              <a:t>📊 INFO: Top Video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Modernizing America's Care: 50 plays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73175" y="5486400"/>
            <a:ext cx="3443287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Prompts suggest areas to review; not causal conclusions.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7448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448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PLAY EVENTS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89.2K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22% MoM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COMPLETION RATE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68%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Industry: 45-55%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AVG WATCH TIME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4:32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15% MoM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UNIQUE VIEWERS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42.1K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8% MoM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Video Performance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" y="2514600"/>
            <a:ext cx="12815887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" y="2651760"/>
            <a:ext cx="12559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Play Events Timeline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" y="2880360"/>
            <a:ext cx="125598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Video plays over time showing engagement trends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" y="3063240"/>
            <a:ext cx="12468415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Area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Video plays over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Engagement Analysis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" y="6515100"/>
            <a:ext cx="634365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" y="6652260"/>
            <a:ext cx="6087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Avg Watch Time by Video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" y="6880860"/>
            <a:ext cx="6087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Most-watched content ranked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3836" y="7063740"/>
            <a:ext cx="5996178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Clustered Bar Chart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58050" y="6515100"/>
            <a:ext cx="6357937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86066" y="6652260"/>
            <a:ext cx="6101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Events by Type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86066" y="6880860"/>
            <a:ext cx="610190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View, play, replay breakdown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31786" y="7063740"/>
            <a:ext cx="6010465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Clustered Bar Chart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X=14.89" | Panel: 4.171875" wide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81527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7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PLAY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Video engagement and playback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6802100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565C65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COLLAPSED (DEFAULT)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441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8964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livecast action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729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27764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livecast title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6017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38276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5" name="Oval 24"/>
          <p:cNvSpPr/>
          <p:nvPr/>
        </p:nvSpPr>
        <p:spPr>
          <a:xfrm>
            <a:off x="15430500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44850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446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446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773650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846802" y="2051685"/>
            <a:ext cx="109728" cy="109728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PLAY EVENTS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89.2K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22% MoM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COMPLETION RATE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68%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Industry: 45-55%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AVG WATCH TIME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4:32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15% MoM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UNIQUE VIEWERS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42.1K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8% MoM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Video Performance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" y="2514600"/>
            <a:ext cx="16802100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" y="2651760"/>
            <a:ext cx="165460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Play Events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" y="2880360"/>
            <a:ext cx="165460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Video plays over time showing engagement trends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" y="3063240"/>
            <a:ext cx="16454628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Area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Video plays over 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Engagement Analysis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Avg Watch Time by Video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" y="68808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Most-watched content ranked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Clustered Bar Chart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583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863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Events by 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86316" y="68808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View, play, replay breakdown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320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Clustered Bar Chart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X=19.25" | Rail: 0.625" wide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22576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322576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ACQUISITION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Traffic sources and user acquisition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2815887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005EA2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EXPANDED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866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1551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Page path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54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2063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3" name="Oval 22"/>
          <p:cNvSpPr/>
          <p:nvPr/>
        </p:nvSpPr>
        <p:spPr>
          <a:xfrm>
            <a:off x="11444287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58637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87437" y="1914525"/>
            <a:ext cx="3814762" cy="3929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87437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973175" y="2057400"/>
            <a:ext cx="3543300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1B1B"/>
                </a:solidFill>
              </a:defRPr>
            </a:pPr>
            <a:r>
              <a:t>Recommended 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001750" y="2457450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83B01"/>
                </a:solidFill>
              </a:defRPr>
            </a:pPr>
            <a:r>
              <a:t>🚨 HIGH: Direct Traffic Dominant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39% from direct/unknown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01750" y="3471862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000"/>
                </a:solidFill>
              </a:defRPr>
            </a:pPr>
            <a:r>
              <a:t>⚠️ MEDIUM: Low Social Referrals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No social media traffic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001750" y="4486275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6D6"/>
                </a:solidFill>
              </a:defRPr>
            </a:pPr>
            <a:r>
              <a:t>📊 INFO: Google Organic Strong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38 users from Google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73175" y="5486400"/>
            <a:ext cx="3443287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Prompts suggest areas to review; not causal conclusions.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7448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7448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ORGANIC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45.2K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18% MoM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DIRECT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32.1K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5% MoM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REFERRAL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28.4K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▼ 2% MoM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SOCIAL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18.8K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25% MoM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Channel Performance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" y="2514600"/>
            <a:ext cx="12815887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" y="2651760"/>
            <a:ext cx="12559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Traffic Sources by Channel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" y="2880360"/>
            <a:ext cx="125598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Sessions breakdown by medium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" y="3063240"/>
            <a:ext cx="12468415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Stacked Column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Traffic volume by channel over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Primary Sources Driving Event Traffic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" y="6515100"/>
            <a:ext cx="634365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" y="6652260"/>
            <a:ext cx="6087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Top Traffic 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" y="6880860"/>
            <a:ext cx="6087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Ranked by users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3836" y="7063740"/>
            <a:ext cx="5996178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Clustered Bar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Campaign attribution breakdown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8050" y="6515100"/>
            <a:ext cx="6357937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86066" y="6652260"/>
            <a:ext cx="6101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User Conversion Funnel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6066" y="6880860"/>
            <a:ext cx="610190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Event progression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31786" y="7063740"/>
            <a:ext cx="6010465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Funnel Chart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X=14.89" | Panel: 4.171875" wide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22576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322576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ACQUISITION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Traffic sources and user acquisition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6802100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565C65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COLLAPSED (DEFAULT)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729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27764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Page path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017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38276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3" name="Oval 22"/>
          <p:cNvSpPr/>
          <p:nvPr/>
        </p:nvSpPr>
        <p:spPr>
          <a:xfrm>
            <a:off x="15430500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44850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446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446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773650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846802" y="2051685"/>
            <a:ext cx="109728" cy="109728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ORGANIC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45.2K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18% MoM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DIRECT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32.1K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5% MoM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REFERRAL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28.4K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▼ 2% MoM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SOCIAL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18.8K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25% MoM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Channel Performance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" y="2514600"/>
            <a:ext cx="16802100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" y="2651760"/>
            <a:ext cx="165460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Traffic Sources by Channel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" y="2880360"/>
            <a:ext cx="165460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Sessions breakdown by medium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3836" y="3063240"/>
            <a:ext cx="16454628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Stacked Column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Traffic volume by channel over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Primary Sources Driving Event Traffic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Top Traffic 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" y="68808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Ranked by users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Clustered Bar Chart</a:t>
            </a:r>
          </a:p>
          <a:p>
            <a:pPr algn="ctr">
              <a:defRPr sz="900">
                <a:solidFill>
                  <a:srgbClr val="565C65"/>
                </a:solidFill>
              </a:defRPr>
            </a:pPr>
            <a:r>
              <a:t>Campaign attribution breakdown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583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863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User Conversion Funnel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86316" y="68808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Event progression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320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Funnel Chart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X=19.25" | Rail: 0.625" wide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840480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EXTERNAL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Search visibility and click-through performance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2815887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005EA2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EXPANDED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54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2063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1" name="Oval 20"/>
          <p:cNvSpPr/>
          <p:nvPr/>
        </p:nvSpPr>
        <p:spPr>
          <a:xfrm>
            <a:off x="11444287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58637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87437" y="1914525"/>
            <a:ext cx="3814762" cy="3929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87437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73175" y="2057400"/>
            <a:ext cx="3543300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1B1B"/>
                </a:solidFill>
              </a:defRPr>
            </a:pPr>
            <a:r>
              <a:t>Recommended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001750" y="2457450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83B01"/>
                </a:solidFill>
              </a:defRPr>
            </a:pPr>
            <a:r>
              <a:t>🚨 HIGH: CTR Opportunity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'hhs live' has 17.98% CTR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001750" y="3471862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000"/>
                </a:solidFill>
              </a:defRPr>
            </a:pPr>
            <a:r>
              <a:t>⚠️ MEDIUM: Position Monitoring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Key queries in top 10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001750" y="4486275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6D6"/>
                </a:solidFill>
              </a:defRPr>
            </a:pPr>
            <a:r>
              <a:t>📊 INFO: Device Split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Mobile: 149, Desktop: 127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73175" y="5486400"/>
            <a:ext cx="3443287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Prompts suggest areas to review; not causal conclusions.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7448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448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CLICKS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12.4K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15% MoM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IMPRESSIONS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385K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8% MoM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AVG CTR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3.2%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Industry: 2-4%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AVG POSITION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8.4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2 positions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Search Console Overview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" y="2514600"/>
            <a:ext cx="12815887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" y="2651760"/>
            <a:ext cx="12559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Clicks &amp; Impressions Trend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" y="2880360"/>
            <a:ext cx="125598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Top search queries driving traffic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6" y="3063240"/>
            <a:ext cx="12468415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Line and Clustered Column Chart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Query Performance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0100" y="6515100"/>
            <a:ext cx="634365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" y="6652260"/>
            <a:ext cx="6087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Top Queries by Impressions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" y="6880860"/>
            <a:ext cx="6087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Average ranking over time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3836" y="7063740"/>
            <a:ext cx="5996178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Table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58050" y="6515100"/>
            <a:ext cx="6357937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86066" y="6652260"/>
            <a:ext cx="6101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CTR by Position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6066" y="6880860"/>
            <a:ext cx="610190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Impressions, clicks, CTR relationship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31786" y="7063740"/>
            <a:ext cx="6010465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Scatter Chart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X=14.89" | Panel: 4.171875" wide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840480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EXTERNAL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Search visibility and click-through performance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6802100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565C65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COLLAPSED (DEFAULT)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6017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638276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1" name="Oval 20"/>
          <p:cNvSpPr/>
          <p:nvPr/>
        </p:nvSpPr>
        <p:spPr>
          <a:xfrm>
            <a:off x="15430500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44850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446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446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773650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846802" y="2051685"/>
            <a:ext cx="109728" cy="109728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CLICKS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12.4K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15% MoM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IMPRESSIONS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385K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8% MoM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AVG CTR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3.2%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Industry: 2-4%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AVG POSITION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8.4</a:t>
            </a:r>
          </a:p>
          <a:p>
            <a:pPr>
              <a:defRPr sz="1000">
                <a:solidFill>
                  <a:srgbClr val="2E8B57"/>
                </a:solidFill>
              </a:defRPr>
            </a:pPr>
            <a:r>
              <a:t>▲ 2 positions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Search Console Overview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" y="2514600"/>
            <a:ext cx="16802100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" y="2651760"/>
            <a:ext cx="165460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Clicks &amp; Impressions Trend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" y="2880360"/>
            <a:ext cx="165460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Top search queries driving traffic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3836" y="3063240"/>
            <a:ext cx="16454628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Line and Clustered Column Chart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Query Performance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Top Queries by Impressions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" y="68808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Average ranking over 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Table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583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63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CTR by Position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6316" y="68808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Impressions, clicks, CTR relationship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320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Scatter Chart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X=19.25" | Rail: 0.625" wide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99431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9431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AI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Intelligent pattern detection and forecasts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2815887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005EA2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EXPANDED (DEFAULT)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866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1551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livecast title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54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2063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3" name="Oval 22"/>
          <p:cNvSpPr/>
          <p:nvPr/>
        </p:nvSpPr>
        <p:spPr>
          <a:xfrm>
            <a:off x="11444287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58637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87437" y="1914525"/>
            <a:ext cx="3814762" cy="3929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87437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973175" y="2057400"/>
            <a:ext cx="3543300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1B1B"/>
                </a:solidFill>
              </a:defRPr>
            </a:pPr>
            <a:r>
              <a:t>Recommended 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001750" y="2457450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83B01"/>
                </a:solidFill>
              </a:defRPr>
            </a:pPr>
            <a:r>
              <a:t>🚨 HIGH: Traffic Spike Detected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Anomaly on specific dates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01750" y="3471862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000"/>
                </a:solidFill>
              </a:defRPr>
            </a:pPr>
            <a:r>
              <a:t>⚠️ MEDIUM: Forecast Confidence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Model needs more data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001750" y="4486275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6D6"/>
                </a:solidFill>
              </a:defRPr>
            </a:pPr>
            <a:r>
              <a:t>📊 INFO: Trending Positive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Upward trajectory predicted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73175" y="5486400"/>
            <a:ext cx="3443287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Prompts suggest areas to review; not causal conclusions.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7448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7448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ANOMALIES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3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Detected this period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FORECAST CONF.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82%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Model confidence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TREND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▲ Upward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30-day forecast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DATA POINTS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45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Historical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Pattern Detection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" y="2514600"/>
            <a:ext cx="12815887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" y="2651760"/>
            <a:ext cx="12559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Anomaly Detection Timeline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" y="2880360"/>
            <a:ext cx="125598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No anomalies detected for selected period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" y="3063240"/>
            <a:ext cx="12468415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Line Chart (Anomaly)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Forecasts &amp; Recommendations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" y="6515100"/>
            <a:ext cx="634365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" y="6652260"/>
            <a:ext cx="6087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Forecasted Traffic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" y="6880860"/>
            <a:ext cx="6087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Forecast populates after 30 days of data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3836" y="7063740"/>
            <a:ext cx="5996178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Line Chart (Forecast)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8050" y="6515100"/>
            <a:ext cx="6357937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86066" y="6652260"/>
            <a:ext cx="6101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Signal Strength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6066" y="6880860"/>
            <a:ext cx="610190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Model confidence level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31786" y="7063740"/>
            <a:ext cx="6010465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Gauge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X=14.89" | Panel: 4.171875" wide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99431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99431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AI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Intelligent pattern detection and forecasts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6802100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565C65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COLLAPSED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729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27764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livecast title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017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38276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3" name="Oval 22"/>
          <p:cNvSpPr/>
          <p:nvPr/>
        </p:nvSpPr>
        <p:spPr>
          <a:xfrm>
            <a:off x="15430500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44850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446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446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773650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846802" y="2051685"/>
            <a:ext cx="109728" cy="109728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ANOMALIES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3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Detected this period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FORECAST CONF.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82%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Model confidence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TREND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▲ Upward</a:t>
            </a:r>
          </a:p>
          <a:p>
            <a:pPr>
              <a:defRPr sz="1000">
                <a:solidFill>
                  <a:srgbClr val="D83B01"/>
                </a:solidFill>
              </a:defRPr>
            </a:pPr>
            <a:r>
              <a:t>30-day forecast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DATA POINTS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45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Historical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Pattern Detection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" y="2514600"/>
            <a:ext cx="16802100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" y="2651760"/>
            <a:ext cx="165460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Anomaly Detection Timeline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" y="2880360"/>
            <a:ext cx="165460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No anomalies detected for selected period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3836" y="3063240"/>
            <a:ext cx="16454628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Line Chart (Anomaly)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Forecasts &amp; Recommendations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Forecasted Traffic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" y="68808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Forecast populates after 30 days of data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Line Chart (Forecast)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583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863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Signal Strength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86316" y="68808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Model confidence level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320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Gauge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X=19.25" | Rail: 0.625" wide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58383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58383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DEEP 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Advanced segmentation and drillthrough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2815887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005EA2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EXPANDED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78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2751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Page path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866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1551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livecast title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5487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2063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5" name="Oval 24"/>
          <p:cNvSpPr/>
          <p:nvPr/>
        </p:nvSpPr>
        <p:spPr>
          <a:xfrm>
            <a:off x="11444287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58637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87437" y="1914525"/>
            <a:ext cx="3814762" cy="39290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87437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73175" y="2057400"/>
            <a:ext cx="3543300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1B1B"/>
                </a:solidFill>
              </a:defRPr>
            </a:pPr>
            <a:r>
              <a:t>Recommended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001750" y="2457450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83B01"/>
                </a:solidFill>
              </a:defRPr>
            </a:pPr>
            <a:r>
              <a:t>🚨 HIGH: Mobile Segment Opportunity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45% higher engagement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001750" y="3471862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5A000"/>
                </a:solidFill>
              </a:defRPr>
            </a:pPr>
            <a:r>
              <a:t>⚠️ MEDIUM: Review Correlations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Sessions vs engagement: 0.78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001750" y="4486275"/>
            <a:ext cx="3357562" cy="857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6D6"/>
                </a:solidFill>
              </a:defRPr>
            </a:pPr>
            <a:r>
              <a:t>📊 INFO: Export Segments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Why: Share definitions with team</a:t>
            </a:r>
          </a:p>
          <a:p>
            <a:pPr>
              <a:defRPr sz="800">
                <a:solidFill>
                  <a:srgbClr val="565C65"/>
                </a:solidFill>
              </a:defRPr>
            </a:pPr>
            <a:r>
              <a:t>Impact: Review recommended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73175" y="5486400"/>
            <a:ext cx="3443287" cy="27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Prompts suggest areas to review; not causal conclusions.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7448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448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SEGMENTS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12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Active segments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TOP SEGMENT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Mobile+Organic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45% higher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CORRELATION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0.78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Sessions vs Engagement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COHORTS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Phase 3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Coming soon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Detailed Analysis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" y="2514600"/>
            <a:ext cx="12815887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" y="2651760"/>
            <a:ext cx="12559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Segmentation Matrix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" y="2880360"/>
            <a:ext cx="125598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Multi-factor analysis for pattern discovery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" y="3063240"/>
            <a:ext cx="12468415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Decomposition Tree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Multi-Dimensional Analysis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" y="6515100"/>
            <a:ext cx="634365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" y="6652260"/>
            <a:ext cx="6087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Cohort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" y="6880860"/>
            <a:ext cx="6087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PHASE 3 FEATURE - Requires cohort table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3836" y="7063740"/>
            <a:ext cx="5996178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Matrix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58050" y="6515100"/>
            <a:ext cx="6357937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86066" y="6652260"/>
            <a:ext cx="61019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Correlation Explorer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86066" y="6880860"/>
            <a:ext cx="610190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Sessions vs engagement relationship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31786" y="7063740"/>
            <a:ext cx="6010465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Scatter Chart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X=14.89" | Panel: 4.171875" wide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15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0"/>
            <a:ext cx="9144" cy="10287000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58383"/>
            <a:ext cx="36576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58383"/>
            <a:ext cx="571500" cy="566928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01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96112"/>
            <a:ext cx="384048" cy="384048"/>
          </a:xfrm>
          <a:prstGeom prst="rect">
            <a:avLst/>
          </a:prstGeom>
        </p:spPr>
      </p:pic>
      <p:pic>
        <p:nvPicPr>
          <p:cNvPr id="7" name="Picture 6" descr="nav_02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655064"/>
            <a:ext cx="384048" cy="384048"/>
          </a:xfrm>
          <a:prstGeom prst="rect">
            <a:avLst/>
          </a:prstGeom>
        </p:spPr>
      </p:pic>
      <p:pic>
        <p:nvPicPr>
          <p:cNvPr id="8" name="Picture 7" descr="nav_03_traffic_acqui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2414015"/>
            <a:ext cx="384048" cy="384048"/>
          </a:xfrm>
          <a:prstGeom prst="rect">
            <a:avLst/>
          </a:prstGeom>
        </p:spPr>
      </p:pic>
      <p:pic>
        <p:nvPicPr>
          <p:cNvPr id="9" name="Picture 8" descr="nav_04_play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3172968"/>
            <a:ext cx="384048" cy="384048"/>
          </a:xfrm>
          <a:prstGeom prst="rect">
            <a:avLst/>
          </a:prstGeom>
        </p:spPr>
      </p:pic>
      <p:pic>
        <p:nvPicPr>
          <p:cNvPr id="10" name="Picture 9" descr="nav_05_external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931920"/>
            <a:ext cx="384048" cy="384048"/>
          </a:xfrm>
          <a:prstGeom prst="rect">
            <a:avLst/>
          </a:prstGeom>
        </p:spPr>
      </p:pic>
      <p:pic>
        <p:nvPicPr>
          <p:cNvPr id="11" name="Picture 10" descr="nav_06_ai_insigh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4690871"/>
            <a:ext cx="384048" cy="384048"/>
          </a:xfrm>
          <a:prstGeom prst="rect">
            <a:avLst/>
          </a:prstGeom>
        </p:spPr>
      </p:pic>
      <p:pic>
        <p:nvPicPr>
          <p:cNvPr id="12" name="Picture 11" descr="nav_07_deep_d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" y="5449823"/>
            <a:ext cx="384048" cy="384048"/>
          </a:xfrm>
          <a:prstGeom prst="rect">
            <a:avLst/>
          </a:prstGeom>
        </p:spPr>
      </p:pic>
      <p:pic>
        <p:nvPicPr>
          <p:cNvPr id="13" name="Picture 12" descr="hhs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71450"/>
            <a:ext cx="742950" cy="7429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200025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HHS LIVE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48577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1B1B"/>
                </a:solidFill>
              </a:defRPr>
            </a:pPr>
            <a:r>
              <a:t>DEEP 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942975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Advanced segmentation and drillthrough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1228725"/>
            <a:ext cx="16802100" cy="14287"/>
          </a:xfrm>
          <a:prstGeom prst="rect">
            <a:avLst/>
          </a:prstGeom>
          <a:solidFill>
            <a:srgbClr val="DFE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18020" y="504063"/>
            <a:ext cx="1097280" cy="219456"/>
          </a:xfrm>
          <a:prstGeom prst="roundRect">
            <a:avLst>
              <a:gd name="adj" fmla="val 40000"/>
            </a:avLst>
          </a:prstGeom>
          <a:solidFill>
            <a:srgbClr val="565C65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COLLAPSED (DEFAULT)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441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8964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Page path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729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27764" y="522351"/>
            <a:ext cx="160477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livecast title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601700" y="485775"/>
            <a:ext cx="1714500" cy="4000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38276" y="522351"/>
            <a:ext cx="1641348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B1B1B"/>
                </a:solidFill>
              </a:defRPr>
            </a:pPr>
            <a:r>
              <a:t>Jan 01 - Dec 31, 2025 ▼</a:t>
            </a:r>
          </a:p>
        </p:txBody>
      </p:sp>
      <p:sp>
        <p:nvSpPr>
          <p:cNvPr id="25" name="Oval 24"/>
          <p:cNvSpPr/>
          <p:nvPr/>
        </p:nvSpPr>
        <p:spPr>
          <a:xfrm>
            <a:off x="15430500" y="485775"/>
            <a:ext cx="400050" cy="400050"/>
          </a:xfrm>
          <a:prstGeom prst="ellipse">
            <a:avLst/>
          </a:prstGeom>
          <a:solidFill>
            <a:srgbClr val="D9E8F6"/>
          </a:solidFill>
          <a:ln>
            <a:solidFill>
              <a:srgbClr val="005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5EA2"/>
                </a:solidFill>
              </a:defRPr>
            </a:pPr>
            <a: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44850" y="558927"/>
            <a:ext cx="142875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565C65"/>
                </a:solidFill>
              </a:defRPr>
            </a:pPr>
            <a:r>
              <a:t>Last refresh: Just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44625" y="1171575"/>
            <a:ext cx="1514475" cy="571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44625" y="1153287"/>
            <a:ext cx="1514475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EA2"/>
                </a:solidFill>
              </a:defRPr>
            </a:pPr>
            <a:r>
              <a:t>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773650" y="1914525"/>
            <a:ext cx="42862" cy="3929062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846802" y="2051685"/>
            <a:ext cx="109728" cy="109728"/>
          </a:xfrm>
          <a:prstGeom prst="ellipse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0100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SEGMENTS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12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Active segments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29037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TOP SEGMENT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Mobile+Organic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45% higher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7975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CORRELATION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0.78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Sessions vs Engagement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86912" y="1371600"/>
            <a:ext cx="2814637" cy="95726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65C65"/>
                </a:solidFill>
              </a:defRPr>
            </a:pPr>
            <a:r>
              <a:t>COHORTS</a:t>
            </a:r>
          </a:p>
          <a:p>
            <a:pPr>
              <a:defRPr sz="2200" b="1">
                <a:solidFill>
                  <a:srgbClr val="1B1B1B"/>
                </a:solidFill>
              </a:defRPr>
            </a:pPr>
            <a:r>
              <a:t>Phase 3</a:t>
            </a:r>
          </a:p>
          <a:p>
            <a:pPr>
              <a:defRPr sz="1000">
                <a:solidFill>
                  <a:srgbClr val="565C65"/>
                </a:solidFill>
              </a:defRPr>
            </a:pPr>
            <a:r>
              <a:t>Coming soon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Detailed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" y="2514600"/>
            <a:ext cx="16802100" cy="36290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" y="2651760"/>
            <a:ext cx="165460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Segmentation Matrix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" y="2880360"/>
            <a:ext cx="165460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Multi-factor analysis for pattern discovery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" y="3063240"/>
            <a:ext cx="16454628" cy="2897505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Decomposition Tree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" y="62865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1B1B"/>
                </a:solidFill>
              </a:defRPr>
            </a:pPr>
            <a:r>
              <a:t>Multi-Dimensional Analysis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Cohort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" y="68808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PHASE 3 FEATURE - Requires cohort table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Matrix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58300" y="6515100"/>
            <a:ext cx="83439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86316" y="6652260"/>
            <a:ext cx="80878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1B1B"/>
                </a:solidFill>
              </a:defRPr>
            </a:pPr>
            <a:r>
              <a:t>Correlation Explorer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86316" y="6880860"/>
            <a:ext cx="80878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65C65"/>
                </a:solidFill>
              </a:defRPr>
            </a:pPr>
            <a:r>
              <a:t>Sessions vs engagement relationship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32036" y="7063740"/>
            <a:ext cx="7996427" cy="241173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65C65"/>
                </a:solidFill>
              </a:defRPr>
            </a:pPr>
            <a:r>
              <a:t>Visual: Scatter Chart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" y="9875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5C65"/>
                </a:solidFill>
              </a:defRPr>
            </a:pPr>
            <a:r>
              <a:t>Content ends at X=19.25" | Rail: 0.625" wide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